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0"/>
            <a:ext cx="9144" cy="5143500"/>
          </a:xfrm>
          <a:prstGeom prst="rect">
            <a:avLst/>
          </a:prstGeom>
          <a:solidFill>
            <a:srgbClr val="2A3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26080" y="0"/>
            <a:ext cx="9144" cy="5143500"/>
          </a:xfrm>
          <a:prstGeom prst="rect">
            <a:avLst/>
          </a:prstGeom>
          <a:solidFill>
            <a:srgbClr val="2A3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480560" y="0"/>
            <a:ext cx="9144" cy="5143500"/>
          </a:xfrm>
          <a:prstGeom prst="rect">
            <a:avLst/>
          </a:prstGeom>
          <a:solidFill>
            <a:srgbClr val="2A3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35040" y="0"/>
            <a:ext cx="9144" cy="5143500"/>
          </a:xfrm>
          <a:prstGeom prst="rect">
            <a:avLst/>
          </a:prstGeom>
          <a:solidFill>
            <a:srgbClr val="2A3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589520" y="0"/>
            <a:ext cx="9144" cy="5143500"/>
          </a:xfrm>
          <a:prstGeom prst="rect">
            <a:avLst/>
          </a:prstGeom>
          <a:solidFill>
            <a:srgbClr val="2A3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463040"/>
            <a:ext cx="457200" cy="73152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600200"/>
            <a:ext cx="7772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</a:rPr>
              <a:t>BIM/CAD Transformer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331720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CADCFC"/>
                </a:solidFill>
                <a:latin typeface="Calibri"/>
              </a:rPr>
              <a:t>A portfolio of work — from résumé highlights to a full CV pipeline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3657600"/>
            <a:ext cx="45720" cy="77724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675887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Presented by Sara Samanis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0233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CADCFC"/>
                </a:solidFill>
                <a:latin typeface="Calibri"/>
              </a:rPr>
              <a:t>Machine Learning / Computer Vision Engineer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2976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7A8AA3"/>
                </a:solidFill>
                <a:latin typeface="Calibri"/>
              </a:rPr>
              <a:t>msamanis@gmail.com  ·  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84048"/>
            <a:ext cx="109728" cy="38404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2004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E2761"/>
                </a:solidFill>
                <a:latin typeface="Calibr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04672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7A8AA3"/>
                </a:solidFill>
                <a:latin typeface="Calibri"/>
              </a:rPr>
              <a:t>What we'll cover in 15 minutes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188720"/>
            <a:ext cx="8229600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548640" y="1417320"/>
            <a:ext cx="685800" cy="6858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685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435608"/>
            <a:ext cx="3931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E2761"/>
                </a:solidFill>
                <a:latin typeface="Calibri"/>
              </a:rPr>
              <a:t>About 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764792"/>
            <a:ext cx="3931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7A8AA3"/>
                </a:solidFill>
                <a:latin typeface="Calibri"/>
              </a:rPr>
              <a:t>Profile, education, focus areas</a:t>
            </a:r>
          </a:p>
        </p:txBody>
      </p:sp>
      <p:sp>
        <p:nvSpPr>
          <p:cNvPr id="11" name="Oval 10"/>
          <p:cNvSpPr/>
          <p:nvPr/>
        </p:nvSpPr>
        <p:spPr>
          <a:xfrm>
            <a:off x="4709159" y="1417320"/>
            <a:ext cx="685800" cy="6858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59" y="1417320"/>
            <a:ext cx="685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39" y="1435608"/>
            <a:ext cx="3931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E2761"/>
                </a:solidFill>
                <a:latin typeface="Calibri"/>
              </a:rPr>
              <a:t>Career Highlights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77839" y="1764792"/>
            <a:ext cx="3931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7A8AA3"/>
                </a:solidFill>
                <a:latin typeface="Calibri"/>
              </a:rPr>
              <a:t>Prior roles &amp; selected projects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2377440"/>
            <a:ext cx="685800" cy="6858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377440"/>
            <a:ext cx="685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2395728"/>
            <a:ext cx="3931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E2761"/>
                </a:solidFill>
                <a:latin typeface="Calibri"/>
              </a:rPr>
              <a:t>Technical Skills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2724912"/>
            <a:ext cx="3931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7A8AA3"/>
                </a:solidFill>
                <a:latin typeface="Calibri"/>
              </a:rPr>
              <a:t>ML, CV, transformers, tooling</a:t>
            </a:r>
          </a:p>
        </p:txBody>
      </p:sp>
      <p:sp>
        <p:nvSpPr>
          <p:cNvPr id="19" name="Oval 18"/>
          <p:cNvSpPr/>
          <p:nvPr/>
        </p:nvSpPr>
        <p:spPr>
          <a:xfrm>
            <a:off x="4709159" y="2377440"/>
            <a:ext cx="685800" cy="6858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09159" y="2377440"/>
            <a:ext cx="685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77839" y="2395728"/>
            <a:ext cx="3931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E2761"/>
                </a:solidFill>
                <a:latin typeface="Calibri"/>
              </a:rPr>
              <a:t>Featured Project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77839" y="2724912"/>
            <a:ext cx="3931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7A8AA3"/>
                </a:solidFill>
                <a:latin typeface="Calibri"/>
              </a:rPr>
              <a:t>BIM/CAD transformer pipeline</a:t>
            </a:r>
          </a:p>
        </p:txBody>
      </p:sp>
      <p:sp>
        <p:nvSpPr>
          <p:cNvPr id="23" name="Oval 22"/>
          <p:cNvSpPr/>
          <p:nvPr/>
        </p:nvSpPr>
        <p:spPr>
          <a:xfrm>
            <a:off x="548640" y="3337560"/>
            <a:ext cx="685800" cy="6858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337560"/>
            <a:ext cx="685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3355848"/>
            <a:ext cx="3931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E2761"/>
                </a:solidFill>
                <a:latin typeface="Calibri"/>
              </a:rPr>
              <a:t>Three-Model Design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3685032"/>
            <a:ext cx="3931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7A8AA3"/>
                </a:solidFill>
                <a:latin typeface="Calibri"/>
              </a:rPr>
              <a:t>ViT · DETR · Mask2Former</a:t>
            </a:r>
          </a:p>
        </p:txBody>
      </p:sp>
      <p:sp>
        <p:nvSpPr>
          <p:cNvPr id="27" name="Oval 26"/>
          <p:cNvSpPr/>
          <p:nvPr/>
        </p:nvSpPr>
        <p:spPr>
          <a:xfrm>
            <a:off x="4709159" y="3337560"/>
            <a:ext cx="685800" cy="6858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9159" y="3337560"/>
            <a:ext cx="685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77839" y="3355848"/>
            <a:ext cx="3931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E2761"/>
                </a:solidFill>
                <a:latin typeface="Calibri"/>
              </a:rPr>
              <a:t>Results &amp; Mapping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77839" y="3685032"/>
            <a:ext cx="3931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7A8AA3"/>
                </a:solidFill>
                <a:latin typeface="Calibri"/>
              </a:rPr>
              <a:t>How it fits MapsPeople's mission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48006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A8AA3"/>
                </a:solidFill>
                <a:latin typeface="Calibri"/>
              </a:rPr>
              <a:t>Sara Samanis  ·  BIM/CAD Transformer Pipeline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A8AA3"/>
                </a:solidFill>
                <a:latin typeface="Calibri"/>
              </a:rPr>
              <a:t>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84048"/>
            <a:ext cx="109728" cy="38404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2004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E2761"/>
                </a:solidFill>
                <a:latin typeface="Calibri"/>
              </a:rPr>
              <a:t>About 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04672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7A8AA3"/>
                </a:solidFill>
                <a:latin typeface="Calibri"/>
              </a:rPr>
              <a:t>Profile &amp; focus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188720"/>
            <a:ext cx="8229600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57200" y="1371600"/>
            <a:ext cx="484632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73152" cy="320040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50876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E2761"/>
                </a:solidFill>
                <a:latin typeface="Calibri"/>
              </a:rPr>
              <a:t>Profile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874519"/>
            <a:ext cx="438912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2C3E50"/>
                </a:solidFill>
                <a:latin typeface="Calibri"/>
              </a:rPr>
              <a:t>Machine-learning engineer focused on computer vision and 3D / spatial data. Experience across:</a:t>
            </a:r>
          </a:p>
          <a:p>
            <a:pPr algn="l" marL="285750" indent="-228600">
              <a:lnSpc>
                <a:spcPct val="135000"/>
              </a:lnSpc>
              <a:buChar char="•"/>
            </a:pPr>
            <a:r>
              <a:rPr sz="1200" b="0" i="0">
                <a:solidFill>
                  <a:srgbClr val="2C3E50"/>
                </a:solidFill>
                <a:latin typeface="Calibri"/>
              </a:rPr>
              <a:t>Transformer-based detection &amp; segmentation</a:t>
            </a:r>
          </a:p>
          <a:p>
            <a:pPr algn="l" marL="285750" indent="-228600">
              <a:lnSpc>
                <a:spcPct val="135000"/>
              </a:lnSpc>
              <a:buChar char="•"/>
            </a:pPr>
            <a:r>
              <a:rPr sz="1200" b="0" i="0">
                <a:solidFill>
                  <a:srgbClr val="2C3E50"/>
                </a:solidFill>
                <a:latin typeface="Calibri"/>
              </a:rPr>
              <a:t>BIM / CAD / point-cloud understanding</a:t>
            </a:r>
          </a:p>
          <a:p>
            <a:pPr algn="l" marL="285750" indent="-228600">
              <a:lnSpc>
                <a:spcPct val="135000"/>
              </a:lnSpc>
              <a:buChar char="•"/>
            </a:pPr>
            <a:r>
              <a:rPr sz="1200" b="0" i="0">
                <a:solidFill>
                  <a:srgbClr val="2C3E50"/>
                </a:solidFill>
                <a:latin typeface="Calibri"/>
              </a:rPr>
              <a:t>End-to-end data pipelines &amp; deployment</a:t>
            </a:r>
          </a:p>
          <a:p>
            <a:pPr algn="l" marL="285750" indent="-228600">
              <a:lnSpc>
                <a:spcPct val="135000"/>
              </a:lnSpc>
              <a:buChar char="•"/>
            </a:pPr>
            <a:r>
              <a:rPr sz="1200" b="0" i="0">
                <a:solidFill>
                  <a:srgbClr val="2C3E50"/>
                </a:solidFill>
                <a:latin typeface="Calibri"/>
              </a:rPr>
              <a:t>Research-to-production ML delivery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0" y="1371600"/>
            <a:ext cx="3200400" cy="3200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15000" y="150876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CADCFC"/>
                </a:solidFill>
                <a:latin typeface="Calibri"/>
              </a:rPr>
              <a:t>Quick Facts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0" y="1920240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7A8AA3"/>
                </a:solidFill>
                <a:latin typeface="Calibri"/>
              </a:rPr>
              <a:t>Role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1920240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ML / CV Engineer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0" y="2304288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7A8AA3"/>
                </a:solidFill>
                <a:latin typeface="Calibri"/>
              </a:rPr>
              <a:t>Focus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2304288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Transformers · Spatial 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15000" y="2688336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7A8AA3"/>
                </a:solidFill>
                <a:latin typeface="Calibri"/>
              </a:rPr>
              <a:t>Based 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2688336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[Your City]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0" y="3072384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7A8AA3"/>
                </a:solidFill>
                <a:latin typeface="Calibri"/>
              </a:rPr>
              <a:t>Education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3072384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[Degree, University]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15000" y="3456432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7A8AA3"/>
                </a:solidFill>
                <a:latin typeface="Calibri"/>
              </a:rPr>
              <a:t>Languages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3456432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Python, PyTorch, C++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15000" y="3840480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7A8AA3"/>
                </a:solidFill>
                <a:latin typeface="Calibri"/>
              </a:rPr>
              <a:t>Interests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3840480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Indoor mapping, BIM→map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8006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A8AA3"/>
                </a:solidFill>
                <a:latin typeface="Calibri"/>
              </a:rPr>
              <a:t>Sara Samanis  ·  BIM/CAD Transformer Pipeline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A8AA3"/>
                </a:solidFill>
                <a:latin typeface="Calibri"/>
              </a:rPr>
              <a:t>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84048"/>
            <a:ext cx="109728" cy="38404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2004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E2761"/>
                </a:solidFill>
                <a:latin typeface="Calibri"/>
              </a:rPr>
              <a:t>Career Highlights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04672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7A8AA3"/>
                </a:solidFill>
                <a:latin typeface="Calibri"/>
              </a:rPr>
              <a:t>Selected roles &amp; projects from my résumé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188720"/>
            <a:ext cx="8229600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914400" y="1463040"/>
            <a:ext cx="27432" cy="31089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41248" y="1490472"/>
            <a:ext cx="201168" cy="201168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141732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0A896"/>
                </a:solidFill>
                <a:latin typeface="Calibri"/>
              </a:rPr>
              <a:t>2024 — Now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6120" y="14173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E2761"/>
                </a:solidFill>
                <a:latin typeface="Calibri"/>
              </a:rPr>
              <a:t>[Current Role]  ·  [Current Company]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6120" y="1709928"/>
            <a:ext cx="5486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2C3E50"/>
                </a:solidFill>
                <a:latin typeface="Calibri"/>
              </a:rPr>
              <a:t>Led CV/ML work on [key project]. Shipped [impact metric].</a:t>
            </a:r>
          </a:p>
        </p:txBody>
      </p:sp>
      <p:sp>
        <p:nvSpPr>
          <p:cNvPr id="12" name="Oval 11"/>
          <p:cNvSpPr/>
          <p:nvPr/>
        </p:nvSpPr>
        <p:spPr>
          <a:xfrm>
            <a:off x="841248" y="2295144"/>
            <a:ext cx="201168" cy="201168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" y="222199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0A896"/>
                </a:solidFill>
                <a:latin typeface="Calibri"/>
              </a:rPr>
              <a:t>2022 — 2024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222199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E2761"/>
                </a:solidFill>
                <a:latin typeface="Calibri"/>
              </a:rPr>
              <a:t>[Previous Role]  ·  [Previous Company]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2514600"/>
            <a:ext cx="5486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2C3E50"/>
                </a:solidFill>
                <a:latin typeface="Calibri"/>
              </a:rPr>
              <a:t>Built [system]; reduced [metric] by [x %].</a:t>
            </a:r>
          </a:p>
        </p:txBody>
      </p:sp>
      <p:sp>
        <p:nvSpPr>
          <p:cNvPr id="16" name="Oval 15"/>
          <p:cNvSpPr/>
          <p:nvPr/>
        </p:nvSpPr>
        <p:spPr>
          <a:xfrm>
            <a:off x="841248" y="3099816"/>
            <a:ext cx="201168" cy="201168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4440" y="3026664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0A896"/>
                </a:solidFill>
                <a:latin typeface="Calibri"/>
              </a:rPr>
              <a:t>2020 — 2022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46120" y="3026664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E2761"/>
                </a:solidFill>
                <a:latin typeface="Calibri"/>
              </a:rPr>
              <a:t>[Earlier Role]  ·  [Earlier Company]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46120" y="3319272"/>
            <a:ext cx="5486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2C3E50"/>
                </a:solidFill>
                <a:latin typeface="Calibri"/>
              </a:rPr>
              <a:t>Delivered [deliverable]; published / patented [artifact].</a:t>
            </a:r>
          </a:p>
        </p:txBody>
      </p:sp>
      <p:sp>
        <p:nvSpPr>
          <p:cNvPr id="20" name="Oval 19"/>
          <p:cNvSpPr/>
          <p:nvPr/>
        </p:nvSpPr>
        <p:spPr>
          <a:xfrm>
            <a:off x="841248" y="3904488"/>
            <a:ext cx="201168" cy="201168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4440" y="3831336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0A896"/>
                </a:solidFill>
                <a:latin typeface="Calibri"/>
              </a:rPr>
              <a:t>2018 — 2020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46120" y="3831336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E2761"/>
                </a:solidFill>
                <a:latin typeface="Calibri"/>
              </a:rPr>
              <a:t>[Education / Research]  ·  [University / Lab]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46120" y="4123944"/>
            <a:ext cx="5486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2C3E50"/>
                </a:solidFill>
                <a:latin typeface="Calibri"/>
              </a:rPr>
              <a:t>Thesis on [topic]; first author on [paper].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461772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7A8AA3"/>
                </a:solidFill>
                <a:latin typeface="Calibri"/>
              </a:rPr>
              <a:t>[Placeholder] — swap in your actual role, company, and achievements.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8006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A8AA3"/>
                </a:solidFill>
                <a:latin typeface="Calibri"/>
              </a:rPr>
              <a:t>Sara Samanis  ·  BIM/CAD Transformer Pipeline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A8AA3"/>
                </a:solidFill>
                <a:latin typeface="Calibri"/>
              </a:rPr>
              <a:t>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84048"/>
            <a:ext cx="109728" cy="38404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2004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E2761"/>
                </a:solidFill>
                <a:latin typeface="Calibri"/>
              </a:rPr>
              <a:t>Technical Skills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04672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7A8AA3"/>
                </a:solidFill>
                <a:latin typeface="Calibri"/>
              </a:rPr>
              <a:t>Stack I use day-to-day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188720"/>
            <a:ext cx="8229600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57200" y="1417320"/>
            <a:ext cx="393192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73152" cy="150876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52704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E2761"/>
                </a:solidFill>
                <a:latin typeface="Calibri"/>
              </a:rPr>
              <a:t>Machine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874520"/>
            <a:ext cx="36576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85750" indent="-228600">
              <a:lnSpc>
                <a:spcPct val="120000"/>
              </a:lnSpc>
              <a:buChar char="•"/>
            </a:pPr>
            <a:r>
              <a:rPr sz="1050" b="0" i="0">
                <a:solidFill>
                  <a:srgbClr val="2C3E50"/>
                </a:solidFill>
                <a:latin typeface="Calibri"/>
              </a:rPr>
              <a:t>PyTorch</a:t>
            </a:r>
          </a:p>
          <a:p>
            <a:pPr algn="l" marL="285750" indent="-228600">
              <a:lnSpc>
                <a:spcPct val="120000"/>
              </a:lnSpc>
              <a:buChar char="•"/>
            </a:pPr>
            <a:r>
              <a:rPr sz="1050" b="0" i="0">
                <a:solidFill>
                  <a:srgbClr val="2C3E50"/>
                </a:solidFill>
                <a:latin typeface="Calibri"/>
              </a:rPr>
              <a:t>Transformers (ViT, DETR, Mask2Former)</a:t>
            </a:r>
          </a:p>
          <a:p>
            <a:pPr algn="l" marL="285750" indent="-228600">
              <a:lnSpc>
                <a:spcPct val="120000"/>
              </a:lnSpc>
              <a:buChar char="•"/>
            </a:pPr>
            <a:r>
              <a:rPr sz="1050" b="0" i="0">
                <a:solidFill>
                  <a:srgbClr val="2C3E50"/>
                </a:solidFill>
                <a:latin typeface="Calibri"/>
              </a:rPr>
              <a:t>CNNs / ResNet / Swin</a:t>
            </a:r>
          </a:p>
          <a:p>
            <a:pPr algn="l" marL="285750" indent="-228600">
              <a:lnSpc>
                <a:spcPct val="120000"/>
              </a:lnSpc>
              <a:buChar char="•"/>
            </a:pPr>
            <a:r>
              <a:rPr sz="1050" b="0" i="0">
                <a:solidFill>
                  <a:srgbClr val="2C3E50"/>
                </a:solidFill>
                <a:latin typeface="Calibri"/>
              </a:rPr>
              <a:t>Self-supervised learning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0" y="1417320"/>
            <a:ext cx="393192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54880" y="1417320"/>
            <a:ext cx="73152" cy="150876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83480" y="152704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E2761"/>
                </a:solidFill>
                <a:latin typeface="Calibri"/>
              </a:rPr>
              <a:t>Computer Vision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83480" y="1874520"/>
            <a:ext cx="36576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85750" indent="-228600">
              <a:lnSpc>
                <a:spcPct val="120000"/>
              </a:lnSpc>
              <a:buChar char="•"/>
            </a:pPr>
            <a:r>
              <a:rPr sz="1050" b="0" i="0">
                <a:solidFill>
                  <a:srgbClr val="2C3E50"/>
                </a:solidFill>
                <a:latin typeface="Calibri"/>
              </a:rPr>
              <a:t>Detection</a:t>
            </a:r>
          </a:p>
          <a:p>
            <a:pPr algn="l" marL="285750" indent="-228600">
              <a:lnSpc>
                <a:spcPct val="120000"/>
              </a:lnSpc>
              <a:buChar char="•"/>
            </a:pPr>
            <a:r>
              <a:rPr sz="1050" b="0" i="0">
                <a:solidFill>
                  <a:srgbClr val="2C3E50"/>
                </a:solidFill>
                <a:latin typeface="Calibri"/>
              </a:rPr>
              <a:t>Semantic / instance segmentation</a:t>
            </a:r>
          </a:p>
          <a:p>
            <a:pPr algn="l" marL="285750" indent="-228600">
              <a:lnSpc>
                <a:spcPct val="120000"/>
              </a:lnSpc>
              <a:buChar char="•"/>
            </a:pPr>
            <a:r>
              <a:rPr sz="1050" b="0" i="0">
                <a:solidFill>
                  <a:srgbClr val="2C3E50"/>
                </a:solidFill>
                <a:latin typeface="Calibri"/>
              </a:rPr>
              <a:t>Multi-view geometry</a:t>
            </a:r>
          </a:p>
          <a:p>
            <a:pPr algn="l" marL="285750" indent="-228600">
              <a:lnSpc>
                <a:spcPct val="120000"/>
              </a:lnSpc>
              <a:buChar char="•"/>
            </a:pPr>
            <a:r>
              <a:rPr sz="1050" b="0" i="0">
                <a:solidFill>
                  <a:srgbClr val="2C3E50"/>
                </a:solidFill>
                <a:latin typeface="Calibri"/>
              </a:rPr>
              <a:t>Point-cloud processing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108960"/>
            <a:ext cx="393192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108960"/>
            <a:ext cx="73152" cy="150876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21868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E2761"/>
                </a:solidFill>
                <a:latin typeface="Calibri"/>
              </a:rPr>
              <a:t>Spatial / BIM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566160"/>
            <a:ext cx="36576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85750" indent="-228600">
              <a:lnSpc>
                <a:spcPct val="120000"/>
              </a:lnSpc>
              <a:buChar char="•"/>
            </a:pPr>
            <a:r>
              <a:rPr sz="1050" b="0" i="0">
                <a:solidFill>
                  <a:srgbClr val="2C3E50"/>
                </a:solidFill>
                <a:latin typeface="Calibri"/>
              </a:rPr>
              <a:t>IFC / BIM schemas</a:t>
            </a:r>
          </a:p>
          <a:p>
            <a:pPr algn="l" marL="285750" indent="-228600">
              <a:lnSpc>
                <a:spcPct val="120000"/>
              </a:lnSpc>
              <a:buChar char="•"/>
            </a:pPr>
            <a:r>
              <a:rPr sz="1050" b="0" i="0">
                <a:solidFill>
                  <a:srgbClr val="2C3E50"/>
                </a:solidFill>
                <a:latin typeface="Calibri"/>
              </a:rPr>
              <a:t>CAD rasterisation</a:t>
            </a:r>
          </a:p>
          <a:p>
            <a:pPr algn="l" marL="285750" indent="-228600">
              <a:lnSpc>
                <a:spcPct val="120000"/>
              </a:lnSpc>
              <a:buChar char="•"/>
            </a:pPr>
            <a:r>
              <a:rPr sz="1050" b="0" i="0">
                <a:solidFill>
                  <a:srgbClr val="2C3E50"/>
                </a:solidFill>
                <a:latin typeface="Calibri"/>
              </a:rPr>
              <a:t>Floorplan understanding</a:t>
            </a:r>
          </a:p>
          <a:p>
            <a:pPr algn="l" marL="285750" indent="-228600">
              <a:lnSpc>
                <a:spcPct val="120000"/>
              </a:lnSpc>
              <a:buChar char="•"/>
            </a:pPr>
            <a:r>
              <a:rPr sz="1050" b="0" i="0">
                <a:solidFill>
                  <a:srgbClr val="2C3E50"/>
                </a:solidFill>
                <a:latin typeface="Calibri"/>
              </a:rPr>
              <a:t>Indoor navigation graphs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54880" y="3108960"/>
            <a:ext cx="393192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754880" y="3108960"/>
            <a:ext cx="73152" cy="150876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83480" y="321868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E2761"/>
                </a:solidFill>
                <a:latin typeface="Calibri"/>
              </a:rPr>
              <a:t>Engineering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83480" y="3566160"/>
            <a:ext cx="36576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85750" indent="-228600">
              <a:lnSpc>
                <a:spcPct val="120000"/>
              </a:lnSpc>
              <a:buChar char="•"/>
            </a:pPr>
            <a:r>
              <a:rPr sz="1050" b="0" i="0">
                <a:solidFill>
                  <a:srgbClr val="2C3E50"/>
                </a:solidFill>
                <a:latin typeface="Calibri"/>
              </a:rPr>
              <a:t>Python, C++</a:t>
            </a:r>
          </a:p>
          <a:p>
            <a:pPr algn="l" marL="285750" indent="-228600">
              <a:lnSpc>
                <a:spcPct val="120000"/>
              </a:lnSpc>
              <a:buChar char="•"/>
            </a:pPr>
            <a:r>
              <a:rPr sz="1050" b="0" i="0">
                <a:solidFill>
                  <a:srgbClr val="2C3E50"/>
                </a:solidFill>
                <a:latin typeface="Calibri"/>
              </a:rPr>
              <a:t>Docker, AWS / GCP</a:t>
            </a:r>
          </a:p>
          <a:p>
            <a:pPr algn="l" marL="285750" indent="-228600">
              <a:lnSpc>
                <a:spcPct val="120000"/>
              </a:lnSpc>
              <a:buChar char="•"/>
            </a:pPr>
            <a:r>
              <a:rPr sz="1050" b="0" i="0">
                <a:solidFill>
                  <a:srgbClr val="2C3E50"/>
                </a:solidFill>
                <a:latin typeface="Calibri"/>
              </a:rPr>
              <a:t>CI/CD, MLOps</a:t>
            </a:r>
          </a:p>
          <a:p>
            <a:pPr algn="l" marL="285750" indent="-228600">
              <a:lnSpc>
                <a:spcPct val="120000"/>
              </a:lnSpc>
              <a:buChar char="•"/>
            </a:pPr>
            <a:r>
              <a:rPr sz="1050" b="0" i="0">
                <a:solidFill>
                  <a:srgbClr val="2C3E50"/>
                </a:solidFill>
                <a:latin typeface="Calibri"/>
              </a:rPr>
              <a:t>Data pipelines (Airflow / Prefect)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8006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A8AA3"/>
                </a:solidFill>
                <a:latin typeface="Calibri"/>
              </a:rPr>
              <a:t>Sara Samanis  ·  BIM/CAD Transformer Pipeline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A8AA3"/>
                </a:solidFill>
                <a:latin typeface="Calibri"/>
              </a:rPr>
              <a:t>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731520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0A896"/>
                </a:solidFill>
                <a:latin typeface="Calibri"/>
              </a:rPr>
              <a:t>FEATURED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77724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</a:rPr>
              <a:t>BIM/CAD Transformer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286000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CADCFC"/>
                </a:solidFill>
                <a:latin typeface="Calibri"/>
              </a:rPr>
              <a:t>Automated extraction of building components from floorplans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200400"/>
            <a:ext cx="2468880" cy="1417320"/>
          </a:xfrm>
          <a:prstGeom prst="roundRect">
            <a:avLst>
              <a:gd name="adj" fmla="val 8000"/>
            </a:avLst>
          </a:prstGeom>
          <a:solidFill>
            <a:srgbClr val="0E1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3200400"/>
            <a:ext cx="2468880" cy="4572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27355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00A896"/>
                </a:solidFill>
                <a:latin typeface="Calibri"/>
              </a:rPr>
              <a:t>What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52044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Classify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840480"/>
            <a:ext cx="21945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CADCFC"/>
                </a:solidFill>
                <a:latin typeface="Calibri"/>
              </a:rPr>
              <a:t>Room type
(ViT)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3200400"/>
            <a:ext cx="2468880" cy="1417320"/>
          </a:xfrm>
          <a:prstGeom prst="roundRect">
            <a:avLst>
              <a:gd name="adj" fmla="val 8000"/>
            </a:avLst>
          </a:prstGeom>
          <a:solidFill>
            <a:srgbClr val="0E1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29000" y="3200400"/>
            <a:ext cx="2468880" cy="4572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1880" y="327355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00A896"/>
                </a:solidFill>
                <a:latin typeface="Calibri"/>
              </a:rPr>
              <a:t>Where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352044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Detect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3840480"/>
            <a:ext cx="21945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CADCFC"/>
                </a:solidFill>
                <a:latin typeface="Calibri"/>
              </a:rPr>
              <a:t>Doors, windows, stairs
(DETR)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200400"/>
            <a:ext cx="2468880" cy="1417320"/>
          </a:xfrm>
          <a:prstGeom prst="roundRect">
            <a:avLst>
              <a:gd name="adj" fmla="val 8000"/>
            </a:avLst>
          </a:prstGeom>
          <a:solidFill>
            <a:srgbClr val="0E1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3200400"/>
            <a:ext cx="2468880" cy="4572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327355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00A896"/>
                </a:solidFill>
                <a:latin typeface="Calibri"/>
              </a:rPr>
              <a:t>Which pixel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352044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Segment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3840480"/>
            <a:ext cx="21945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CADCFC"/>
                </a:solidFill>
                <a:latin typeface="Calibri"/>
              </a:rPr>
              <a:t>Walls &amp; floor polygons
(Mask2Former)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84048"/>
            <a:ext cx="109728" cy="38404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2004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E2761"/>
                </a:solidFill>
                <a:latin typeface="Calibri"/>
              </a:rPr>
              <a:t>Why Three Models?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04672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7A8AA3"/>
                </a:solidFill>
                <a:latin typeface="Calibri"/>
              </a:rPr>
              <a:t>Each task needs a different output shape — one size doesn't fit all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188720"/>
            <a:ext cx="8229600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20040" y="1417320"/>
            <a:ext cx="2743200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2743200" cy="73152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554480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00A896"/>
                </a:solidFill>
                <a:latin typeface="Calibri"/>
              </a:rPr>
              <a:t>ONE CLASS PER IMAGE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810512"/>
            <a:ext cx="2514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1E2761"/>
                </a:solidFill>
                <a:latin typeface="Calibri"/>
              </a:rPr>
              <a:t>ViT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331720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7A8AA3"/>
                </a:solidFill>
                <a:latin typeface="Calibri"/>
              </a:rPr>
              <a:t>Asks: what kind of room is this?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926080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C3E50"/>
                </a:solidFill>
                <a:latin typeface="Calibri"/>
              </a:rPr>
              <a:t>Output: single label  ('office', 'corridor' …)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069080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0A896"/>
                </a:solidFill>
                <a:latin typeface="Calibri"/>
              </a:rPr>
              <a:t>~2.5 M params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18688" y="1417320"/>
            <a:ext cx="2743200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18688" y="1417320"/>
            <a:ext cx="2743200" cy="73152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01568" y="1554480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00A896"/>
                </a:solidFill>
                <a:latin typeface="Calibri"/>
              </a:rPr>
              <a:t>A VARIABLE SET OF BOXES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01568" y="1810512"/>
            <a:ext cx="2514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1E2761"/>
                </a:solidFill>
                <a:latin typeface="Calibri"/>
              </a:rPr>
              <a:t>DETR-lite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01568" y="2331720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7A8AA3"/>
                </a:solidFill>
                <a:latin typeface="Calibri"/>
              </a:rPr>
              <a:t>Asks: where are the doors, windows, stairs?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01568" y="2926080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C3E50"/>
                </a:solidFill>
                <a:latin typeface="Calibri"/>
              </a:rPr>
              <a:t>Output: up to 50 (class, box) pairs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01568" y="4069080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0A896"/>
                </a:solidFill>
                <a:latin typeface="Calibri"/>
              </a:rPr>
              <a:t>~3.5 M params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17336" y="1417320"/>
            <a:ext cx="2743200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17336" y="1417320"/>
            <a:ext cx="2743200" cy="73152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0216" y="1554480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00A896"/>
                </a:solidFill>
                <a:latin typeface="Calibri"/>
              </a:rPr>
              <a:t>A DENSE PER-PIXEL MAP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0216" y="1810512"/>
            <a:ext cx="2514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1E2761"/>
                </a:solidFill>
                <a:latin typeface="Calibri"/>
              </a:rPr>
              <a:t>Mask2Former-lite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0216" y="2331720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7A8AA3"/>
                </a:solidFill>
                <a:latin typeface="Calibri"/>
              </a:rPr>
              <a:t>Asks: which pixel is wall vs floor vs door?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0216" y="2926080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C3E50"/>
                </a:solidFill>
                <a:latin typeface="Calibri"/>
              </a:rPr>
              <a:t>Output: (H,W) class map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0216" y="4069080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0A896"/>
                </a:solidFill>
                <a:latin typeface="Calibri"/>
              </a:rPr>
              <a:t>~2.8 M params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8006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A8AA3"/>
                </a:solidFill>
                <a:latin typeface="Calibri"/>
              </a:rPr>
              <a:t>Sara Samanis  ·  BIM/CAD Transformer Pipeline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A8AA3"/>
                </a:solidFill>
                <a:latin typeface="Calibri"/>
              </a:rPr>
              <a:t>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84048"/>
            <a:ext cx="109728" cy="38404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2004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E2761"/>
                </a:solidFill>
                <a:latin typeface="Calibri"/>
              </a:rPr>
              <a:t>Synthetic Floorplan 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04672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7A8AA3"/>
                </a:solidFill>
                <a:latin typeface="Calibri"/>
              </a:rPr>
              <a:t>Procedural BSP generator — labels are free and pixel-perfect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188720"/>
            <a:ext cx="8229600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40080" y="1417320"/>
            <a:ext cx="3657600" cy="3017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3657600" cy="30175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554480"/>
            <a:ext cx="3383280" cy="27432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554480"/>
            <a:ext cx="1463040" cy="1188720"/>
          </a:xfrm>
          <a:prstGeom prst="rect">
            <a:avLst/>
          </a:prstGeom>
          <a:solidFill>
            <a:srgbClr val="CFD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6916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E2761"/>
                </a:solidFill>
                <a:latin typeface="Calibri"/>
              </a:rPr>
              <a:t>office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31720" y="1554480"/>
            <a:ext cx="1828800" cy="1188720"/>
          </a:xfrm>
          <a:prstGeom prst="rect">
            <a:avLst/>
          </a:prstGeom>
          <a:solidFill>
            <a:srgbClr val="FDE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80" y="169164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E2761"/>
                </a:solidFill>
                <a:latin typeface="Calibri"/>
              </a:rPr>
              <a:t>meeting_room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2834640"/>
            <a:ext cx="3383280" cy="457200"/>
          </a:xfrm>
          <a:prstGeom prst="rect">
            <a:avLst/>
          </a:prstGeom>
          <a:solidFill>
            <a:srgbClr val="DD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9260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E2761"/>
                </a:solidFill>
                <a:latin typeface="Calibri"/>
              </a:rPr>
              <a:t>corridor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3383280"/>
            <a:ext cx="1280160" cy="914400"/>
          </a:xfrm>
          <a:prstGeom prst="rect">
            <a:avLst/>
          </a:prstGeom>
          <a:solidFill>
            <a:srgbClr val="F5D8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4747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E2761"/>
                </a:solidFill>
                <a:latin typeface="Calibri"/>
              </a:rPr>
              <a:t>restroom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148840" y="3383280"/>
            <a:ext cx="2011680" cy="914400"/>
          </a:xfrm>
          <a:prstGeom prst="rect">
            <a:avLst/>
          </a:prstGeom>
          <a:solidFill>
            <a:srgbClr val="E6E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286000" y="34747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E2761"/>
                </a:solidFill>
                <a:latin typeface="Calibri"/>
              </a:rPr>
              <a:t>lobby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148840" y="3017520"/>
            <a:ext cx="137160" cy="6400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965960" y="3383280"/>
            <a:ext cx="137160" cy="6400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651760" y="3383280"/>
            <a:ext cx="137160" cy="6400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50799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1">
                <a:solidFill>
                  <a:srgbClr val="7A8AA3"/>
                </a:solidFill>
                <a:latin typeface="Calibri"/>
              </a:rPr>
              <a:t>Schematic — generated synthetic sample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663440" y="1417320"/>
            <a:ext cx="402336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663440" y="1417320"/>
            <a:ext cx="73152" cy="320040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46320" y="15544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E2761"/>
                </a:solidFill>
                <a:latin typeface="Calibri"/>
              </a:rPr>
              <a:t>Ground-Truth labels (free, per sample)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6320" y="1874519"/>
            <a:ext cx="3657600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 i="0">
                <a:solidFill>
                  <a:srgbClr val="00A896"/>
                </a:solidFill>
                <a:latin typeface="Calibri"/>
              </a:rPr>
              <a:t>ROOM_TYPES </a:t>
            </a:r>
            <a:r>
              <a:rPr sz="1100" b="0" i="0">
                <a:solidFill>
                  <a:srgbClr val="7A8AA3"/>
                </a:solidFill>
                <a:latin typeface="Calibri"/>
              </a:rPr>
              <a:t>— ViT classes</a:t>
            </a:r>
          </a:p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2C3E50"/>
                </a:solidFill>
                <a:latin typeface="Calibri"/>
              </a:rPr>
              <a:t>  office · meeting_room · corridor · restroom · lobby · storage</a:t>
            </a:r>
          </a:p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2C3E50"/>
                </a:solidFill>
                <a:latin typeface="Calibri"/>
              </a:rPr>
              <a:t> </a:t>
            </a:r>
          </a:p>
          <a:p>
            <a:pPr algn="l">
              <a:lnSpc>
                <a:spcPct val="140000"/>
              </a:lnSpc>
            </a:pPr>
            <a:r>
              <a:rPr sz="1100" b="1" i="0">
                <a:solidFill>
                  <a:srgbClr val="00A896"/>
                </a:solidFill>
                <a:latin typeface="Calibri"/>
              </a:rPr>
              <a:t>COMPONENT_TYPES </a:t>
            </a:r>
            <a:r>
              <a:rPr sz="1100" b="0" i="0">
                <a:solidFill>
                  <a:srgbClr val="7A8AA3"/>
                </a:solidFill>
                <a:latin typeface="Calibri"/>
              </a:rPr>
              <a:t>— DETR classes</a:t>
            </a:r>
          </a:p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2C3E50"/>
                </a:solidFill>
                <a:latin typeface="Calibri"/>
              </a:rPr>
              <a:t>  door · window · stair · desk · toilet</a:t>
            </a:r>
          </a:p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2C3E50"/>
                </a:solidFill>
                <a:latin typeface="Calibri"/>
              </a:rPr>
              <a:t> </a:t>
            </a:r>
          </a:p>
          <a:p>
            <a:pPr algn="l">
              <a:lnSpc>
                <a:spcPct val="140000"/>
              </a:lnSpc>
            </a:pPr>
            <a:r>
              <a:rPr sz="1100" b="1" i="0">
                <a:solidFill>
                  <a:srgbClr val="00A896"/>
                </a:solidFill>
                <a:latin typeface="Calibri"/>
              </a:rPr>
              <a:t>SEG_CLASSES </a:t>
            </a:r>
            <a:r>
              <a:rPr sz="1100" b="0" i="0">
                <a:solidFill>
                  <a:srgbClr val="7A8AA3"/>
                </a:solidFill>
                <a:latin typeface="Calibri"/>
              </a:rPr>
              <a:t>— Mask2Former classes</a:t>
            </a:r>
          </a:p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2C3E50"/>
                </a:solidFill>
                <a:latin typeface="Calibri"/>
              </a:rPr>
              <a:t>  background · floor · wall · door · window</a:t>
            </a:r>
          </a:p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2C3E50"/>
                </a:solidFill>
                <a:latin typeface="Calibri"/>
              </a:rPr>
              <a:t> </a:t>
            </a:r>
          </a:p>
          <a:p>
            <a:pPr algn="l">
              <a:lnSpc>
                <a:spcPct val="140000"/>
              </a:lnSpc>
            </a:pPr>
            <a:r>
              <a:rPr sz="1100" b="1" i="0">
                <a:solidFill>
                  <a:srgbClr val="00A896"/>
                </a:solidFill>
                <a:latin typeface="Calibri"/>
              </a:rPr>
              <a:t>Size </a:t>
            </a:r>
            <a:r>
              <a:rPr sz="1100" b="0" i="0">
                <a:solidFill>
                  <a:srgbClr val="7A8AA3"/>
                </a:solidFill>
                <a:latin typeface="Calibri"/>
              </a:rPr>
              <a:t>— 240 samples (200 train / 40 val), 256×256 px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8006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A8AA3"/>
                </a:solidFill>
                <a:latin typeface="Calibri"/>
              </a:rPr>
              <a:t>Sara Samanis  ·  BIM/CAD Transformer Pipeline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A8AA3"/>
                </a:solidFill>
                <a:latin typeface="Calibri"/>
              </a:rPr>
              <a:t>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84048"/>
            <a:ext cx="109728" cy="38404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2004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E2761"/>
                </a:solidFill>
                <a:latin typeface="Calibri"/>
              </a:rPr>
              <a:t>Model 1 — Vision Transformer (ViT)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04672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7A8AA3"/>
                </a:solidFill>
                <a:latin typeface="Calibri"/>
              </a:rPr>
              <a:t>Classify the dominant room type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188720"/>
            <a:ext cx="8229600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57200" y="1417320"/>
            <a:ext cx="429768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2704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E2761"/>
                </a:solidFill>
                <a:latin typeface="Calibri"/>
              </a:rPr>
              <a:t>How it works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965960"/>
            <a:ext cx="694944" cy="50292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965960"/>
            <a:ext cx="694944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Image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72184" y="1965960"/>
            <a:ext cx="694944" cy="50292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72184" y="1965960"/>
            <a:ext cx="694944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Patches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58568" y="1965960"/>
            <a:ext cx="694944" cy="50292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58568" y="1965960"/>
            <a:ext cx="694944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[CLS]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44952" y="1965960"/>
            <a:ext cx="694944" cy="50292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44952" y="1965960"/>
            <a:ext cx="694944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Encoder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831336" y="1965960"/>
            <a:ext cx="694944" cy="50292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31336" y="1965960"/>
            <a:ext cx="694944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Label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651760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7A8AA3"/>
                </a:solidFill>
                <a:latin typeface="Calibri"/>
              </a:rPr>
              <a:t>Only the [CLS] token is decoded → one class per image.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937760" y="1417320"/>
            <a:ext cx="3749039" cy="18288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20640" y="1527048"/>
            <a:ext cx="33832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CADCFC"/>
                </a:solidFill>
                <a:latin typeface="Calibri"/>
              </a:rPr>
              <a:t>Sample training step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66360" y="1892808"/>
            <a:ext cx="338327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Consolas"/>
              </a:rPr>
              <a:t>img (3,256,256) → patches (256,192)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66360" y="2139696"/>
            <a:ext cx="338327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Consolas"/>
              </a:rPr>
              <a:t>append [CLS]   → (257, 192)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66360" y="2386584"/>
            <a:ext cx="338327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Consolas"/>
              </a:rPr>
              <a:t>6 × Transformer encoder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66360" y="2633472"/>
            <a:ext cx="338327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Consolas"/>
              </a:rPr>
              <a:t>[CLS] → Linear → logits(6)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66360" y="2880360"/>
            <a:ext cx="338327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Consolas"/>
              </a:rPr>
              <a:t>loss = CE(logits, 'office')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3474720"/>
            <a:ext cx="274320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2920" y="3474720"/>
            <a:ext cx="73152" cy="100584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3584448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E2761"/>
                </a:solidFill>
                <a:latin typeface="Calibri"/>
              </a:rPr>
              <a:t>Simple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3913632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2C3E50"/>
                </a:solidFill>
                <a:latin typeface="Calibri"/>
              </a:rPr>
              <a:t>Encoder-only, one loss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383280" y="3474720"/>
            <a:ext cx="274320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383280" y="3474720"/>
            <a:ext cx="73152" cy="100584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66160" y="3584448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E2761"/>
                </a:solidFill>
                <a:latin typeface="Calibri"/>
              </a:rPr>
              <a:t>Strong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0" y="3913632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2C3E50"/>
                </a:solidFill>
                <a:latin typeface="Calibri"/>
              </a:rPr>
              <a:t>Global attention from layer 1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63640" y="3474720"/>
            <a:ext cx="274320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63640" y="3474720"/>
            <a:ext cx="73152" cy="100584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6520" y="3584448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E2761"/>
                </a:solidFill>
                <a:latin typeface="Calibri"/>
              </a:rPr>
              <a:t>Reusable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3913632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2C3E50"/>
                </a:solidFill>
                <a:latin typeface="Calibri"/>
              </a:rPr>
              <a:t>Backbone transfers to other tasks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48006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A8AA3"/>
                </a:solidFill>
                <a:latin typeface="Calibri"/>
              </a:rPr>
              <a:t>Sara Samanis  ·  BIM/CAD Transformer Pipeline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A8AA3"/>
                </a:solidFill>
                <a:latin typeface="Calibri"/>
              </a:rPr>
              <a:t>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84048"/>
            <a:ext cx="109728" cy="38404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2004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E2761"/>
                </a:solidFill>
                <a:latin typeface="Calibri"/>
              </a:rPr>
              <a:t>Model 2 — DETR-lite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04672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7A8AA3"/>
                </a:solidFill>
                <a:latin typeface="Calibri"/>
              </a:rPr>
              <a:t>Detect doors, windows, stairs — set prediction with queries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188720"/>
            <a:ext cx="8229600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57200" y="1417320"/>
            <a:ext cx="4114800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E2761"/>
                </a:solidFill>
                <a:latin typeface="Calibri"/>
              </a:rPr>
              <a:t>Key idea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20240"/>
            <a:ext cx="384048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85750" indent="-228600">
              <a:lnSpc>
                <a:spcPct val="140000"/>
              </a:lnSpc>
              <a:buChar char="•"/>
            </a:pPr>
            <a:r>
              <a:rPr sz="1100" b="0" i="0">
                <a:solidFill>
                  <a:srgbClr val="2C3E50"/>
                </a:solidFill>
                <a:latin typeface="Calibri"/>
              </a:rPr>
              <a:t>50 learnable object queries attend to CNN features</a:t>
            </a:r>
          </a:p>
          <a:p>
            <a:pPr algn="l" marL="285750" indent="-228600">
              <a:lnSpc>
                <a:spcPct val="140000"/>
              </a:lnSpc>
              <a:buChar char="•"/>
            </a:pPr>
            <a:r>
              <a:rPr sz="1100" b="0" i="0">
                <a:solidFill>
                  <a:srgbClr val="2C3E50"/>
                </a:solidFill>
                <a:latin typeface="Calibri"/>
              </a:rPr>
              <a:t>Each query emits (class, bbox)</a:t>
            </a:r>
          </a:p>
          <a:p>
            <a:pPr algn="l" marL="285750" indent="-228600">
              <a:lnSpc>
                <a:spcPct val="140000"/>
              </a:lnSpc>
              <a:buChar char="•"/>
            </a:pPr>
            <a:r>
              <a:rPr sz="1100" b="0" i="0">
                <a:solidFill>
                  <a:srgbClr val="2C3E50"/>
                </a:solidFill>
                <a:latin typeface="Calibri"/>
              </a:rPr>
              <a:t>Hungarian matcher pairs queries ↔ GT boxes</a:t>
            </a:r>
          </a:p>
          <a:p>
            <a:pPr algn="l" marL="285750" indent="-228600">
              <a:lnSpc>
                <a:spcPct val="140000"/>
              </a:lnSpc>
              <a:buChar char="•"/>
            </a:pPr>
            <a:r>
              <a:rPr sz="1100" b="0" i="0">
                <a:solidFill>
                  <a:srgbClr val="2C3E50"/>
                </a:solidFill>
                <a:latin typeface="Calibri"/>
              </a:rPr>
              <a:t>Loss = CE + L1 + GIoU  (w_cls=1, w_bbox=5, w_giou=2)</a:t>
            </a:r>
          </a:p>
          <a:p>
            <a:pPr algn="l" marL="285750" indent="-228600">
              <a:lnSpc>
                <a:spcPct val="140000"/>
              </a:lnSpc>
              <a:buChar char="•"/>
            </a:pPr>
            <a:r>
              <a:rPr sz="1100" b="0" i="0">
                <a:solidFill>
                  <a:srgbClr val="2C3E50"/>
                </a:solidFill>
                <a:latin typeface="Calibri"/>
              </a:rPr>
              <a:t>eos_coef = 0.1 prevents 'no object' collapse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0" y="1417320"/>
            <a:ext cx="3931920" cy="301752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1554480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CADCFC"/>
                </a:solidFill>
                <a:latin typeface="Calibri"/>
              </a:rPr>
              <a:t>Sample Hungarian matching (3 queries × 2 GT)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74920" y="1920240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CADCFC"/>
                </a:solidFill>
                <a:latin typeface="Calibri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0760" y="1920240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CADCFC"/>
                </a:solidFill>
                <a:latin typeface="Calibri"/>
              </a:rPr>
              <a:t>GT₁ (door)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86600" y="1920240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CADCFC"/>
                </a:solidFill>
                <a:latin typeface="Calibri"/>
              </a:rPr>
              <a:t>GT₂ (window)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74920" y="2240280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CADCFC"/>
                </a:solidFill>
                <a:latin typeface="Calibri"/>
              </a:rPr>
              <a:t>Q₁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80760" y="2240280"/>
            <a:ext cx="1005840" cy="32004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80760" y="2240280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0.18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86600" y="2240280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CADCFC"/>
                </a:solidFill>
                <a:latin typeface="Calibri"/>
              </a:rPr>
              <a:t>0.92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74920" y="2560320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CADCFC"/>
                </a:solidFill>
                <a:latin typeface="Calibri"/>
              </a:rPr>
              <a:t>Q₂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60" y="2560320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CADCFC"/>
                </a:solidFill>
                <a:latin typeface="Calibri"/>
              </a:rPr>
              <a:t>0.83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86600" y="2560320"/>
            <a:ext cx="1005840" cy="32004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86600" y="2560320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0.24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74920" y="2880360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CADCFC"/>
                </a:solidFill>
                <a:latin typeface="Calibri"/>
              </a:rPr>
              <a:t>Q₃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80760" y="2880360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CADCFC"/>
                </a:solidFill>
                <a:latin typeface="Calibri"/>
              </a:rPr>
              <a:t>0.71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86600" y="2880360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CADCFC"/>
                </a:solidFill>
                <a:latin typeface="Calibri"/>
              </a:rPr>
              <a:t>0.80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37760" y="347472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CADCFC"/>
                </a:solidFill>
                <a:latin typeface="Calibri"/>
              </a:rPr>
              <a:t>Optimal pairing: Q₁→door, Q₂→window, Q₃→no-object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37760" y="3749039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CADCFC"/>
                </a:solidFill>
                <a:latin typeface="Calibri"/>
              </a:rPr>
              <a:t>→ only the two matched queries get box-regression loss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8006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A8AA3"/>
                </a:solidFill>
                <a:latin typeface="Calibri"/>
              </a:rPr>
              <a:t>Sara Samanis  ·  BIM/CAD Transformer Pipeline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A8AA3"/>
                </a:solidFill>
                <a:latin typeface="Calibri"/>
              </a:rP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84048"/>
            <a:ext cx="109728" cy="38404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2004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E2761"/>
                </a:solidFill>
                <a:latin typeface="Calibri"/>
              </a:rPr>
              <a:t>Model 3 — Mask2Former-lite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04672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7A8AA3"/>
                </a:solidFill>
                <a:latin typeface="Calibri"/>
              </a:rPr>
              <a:t>Pixel-precise segmentation for walls &amp; floors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188720"/>
            <a:ext cx="8229600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57200" y="1417320"/>
            <a:ext cx="4297680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E2761"/>
                </a:solidFill>
                <a:latin typeface="Calibri"/>
              </a:rPr>
              <a:t>Key idea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20240"/>
            <a:ext cx="393192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85750" indent="-228600">
              <a:lnSpc>
                <a:spcPct val="135000"/>
              </a:lnSpc>
              <a:buChar char="•"/>
            </a:pPr>
            <a:r>
              <a:rPr sz="1100" b="0" i="0">
                <a:solidFill>
                  <a:srgbClr val="2C3E50"/>
                </a:solidFill>
                <a:latin typeface="Calibri"/>
              </a:rPr>
              <a:t>Backbone at /4 /8 /16 scales → FPN pixel decoder</a:t>
            </a:r>
          </a:p>
          <a:p>
            <a:pPr algn="l" marL="285750" indent="-228600">
              <a:lnSpc>
                <a:spcPct val="135000"/>
              </a:lnSpc>
              <a:buChar char="•"/>
            </a:pPr>
            <a:r>
              <a:rPr sz="1100" b="0" i="0">
                <a:solidFill>
                  <a:srgbClr val="2C3E50"/>
                </a:solidFill>
                <a:latin typeface="Calibri"/>
              </a:rPr>
              <a:t>20 mask queries (decoder)</a:t>
            </a:r>
          </a:p>
          <a:p>
            <a:pPr algn="l" marL="285750" indent="-228600">
              <a:lnSpc>
                <a:spcPct val="135000"/>
              </a:lnSpc>
              <a:buChar char="•"/>
            </a:pPr>
            <a:r>
              <a:rPr sz="1100" b="0" i="0">
                <a:solidFill>
                  <a:srgbClr val="2C3E50"/>
                </a:solidFill>
                <a:latin typeface="Calibri"/>
              </a:rPr>
              <a:t>Mask(q,h,w) = sigmoid(e_q · F[:,h,w])</a:t>
            </a:r>
          </a:p>
          <a:p>
            <a:pPr algn="l" marL="285750" indent="-228600">
              <a:lnSpc>
                <a:spcPct val="135000"/>
              </a:lnSpc>
              <a:buChar char="•"/>
            </a:pPr>
            <a:r>
              <a:rPr sz="1100" b="0" i="0">
                <a:solidFill>
                  <a:srgbClr val="2C3E50"/>
                </a:solidFill>
                <a:latin typeface="Calibri"/>
              </a:rPr>
              <a:t>Seg(c,h,w) = Σ_q softmax(class_q)[c] · Mask_q(h,w)</a:t>
            </a:r>
          </a:p>
          <a:p>
            <a:pPr algn="l" marL="285750" indent="-228600">
              <a:lnSpc>
                <a:spcPct val="135000"/>
              </a:lnSpc>
              <a:buChar char="•"/>
            </a:pPr>
            <a:r>
              <a:rPr sz="1100" b="0" i="0">
                <a:solidFill>
                  <a:srgbClr val="2C3E50"/>
                </a:solidFill>
                <a:latin typeface="Calibri"/>
              </a:rPr>
              <a:t>Loss = CE + Dice (handles class imbalance)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46320" y="1417320"/>
            <a:ext cx="3840480" cy="301752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0" y="1536192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CADCFC"/>
                </a:solidFill>
                <a:latin typeface="Calibri"/>
              </a:rPr>
              <a:t>Sample: one query predicting 'wall'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74920" y="1874519"/>
            <a:ext cx="3566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Consolas"/>
              </a:rPr>
              <a:t>e_wall   = [ 1.0, -1.0,  0.0 ]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74920" y="2185415"/>
            <a:ext cx="3566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Consolas"/>
              </a:rPr>
              <a:t>F[:,0,0] = [ 0.1,  0.9,  0.2 ]  →  σ = 0.31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74920" y="2496312"/>
            <a:ext cx="3566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Consolas"/>
              </a:rPr>
              <a:t>F[:,0,1] = [ 0.8,  0.1,  0.1 ]  →  σ = 0.67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74920" y="2807208"/>
            <a:ext cx="3566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Consolas"/>
              </a:rPr>
              <a:t>F[:,1,0] = [ 0.7,  0.0,  0.2 ]  →  σ = 0.67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74920" y="3118104"/>
            <a:ext cx="3566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Consolas"/>
              </a:rPr>
              <a:t>F[:,1,1] = [ 0.0,  0.9,  0.1 ]  →  σ = 0.29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74920" y="361188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CADCFC"/>
                </a:solidFill>
                <a:latin typeface="Calibri"/>
              </a:rPr>
              <a:t>→ this query 'sees' wall at TR &amp; BL pixels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8006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A8AA3"/>
                </a:solidFill>
                <a:latin typeface="Calibri"/>
              </a:rPr>
              <a:t>Sara Samanis  ·  BIM/CAD Transformer Pipeline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A8AA3"/>
                </a:solidFill>
                <a:latin typeface="Calibri"/>
              </a:rP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84048"/>
            <a:ext cx="109728" cy="38404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2004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E2761"/>
                </a:solidFill>
                <a:latin typeface="Calibri"/>
              </a:rPr>
              <a:t>Results &amp; MapsPeople Fit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04672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7A8AA3"/>
                </a:solidFill>
                <a:latin typeface="Calibri"/>
              </a:rPr>
              <a:t>What the pipeline delivers and how it maps to the role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188720"/>
            <a:ext cx="8229600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57200" y="1417320"/>
            <a:ext cx="4023360" cy="301752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CADCFC"/>
                </a:solidFill>
                <a:latin typeface="Calibri"/>
              </a:rPr>
              <a:t>Key numbers (CPU, 200 train samples)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65960"/>
            <a:ext cx="1645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00A896"/>
                </a:solidFill>
                <a:latin typeface="Calibri"/>
              </a:rPr>
              <a:t>78%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6032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CADCFC"/>
                </a:solidFill>
                <a:latin typeface="Calibri"/>
              </a:rPr>
              <a:t>ViT val accuracy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1965960"/>
            <a:ext cx="1645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00A896"/>
                </a:solidFill>
                <a:latin typeface="Calibri"/>
              </a:rPr>
              <a:t>0.60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256032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CADCFC"/>
                </a:solidFill>
                <a:latin typeface="Calibri"/>
              </a:rPr>
              <a:t>Mask2Former val mIoU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108960"/>
            <a:ext cx="1645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00A896"/>
                </a:solidFill>
                <a:latin typeface="Calibri"/>
              </a:rPr>
              <a:t>3.2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70332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CADCFC"/>
                </a:solidFill>
                <a:latin typeface="Calibri"/>
              </a:rPr>
              <a:t>DETR final loss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3108960"/>
            <a:ext cx="1645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00A896"/>
                </a:solidFill>
                <a:latin typeface="Calibri"/>
              </a:rPr>
              <a:t>~9M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370332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CADCFC"/>
                </a:solidFill>
                <a:latin typeface="Calibri"/>
              </a:rPr>
              <a:t>Total params (3 models)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54880" y="1417320"/>
            <a:ext cx="3931920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754880" y="1417320"/>
            <a:ext cx="73152" cy="301752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83480" y="15544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E2761"/>
                </a:solidFill>
                <a:latin typeface="Calibri"/>
              </a:rPr>
              <a:t>Mapping to MapsPeople JD</a:t>
            </a:r>
          </a:p>
        </p:txBody>
      </p:sp>
      <p:sp>
        <p:nvSpPr>
          <p:cNvPr id="20" name="Oval 19"/>
          <p:cNvSpPr/>
          <p:nvPr/>
        </p:nvSpPr>
        <p:spPr>
          <a:xfrm>
            <a:off x="4983480" y="1993392"/>
            <a:ext cx="137160" cy="137160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12080" y="19202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E2761"/>
                </a:solidFill>
                <a:latin typeface="Calibri"/>
              </a:rPr>
              <a:t>Transformer CV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1920240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2C3E50"/>
                </a:solidFill>
                <a:latin typeface="Calibri"/>
              </a:rPr>
              <a:t>ViT + DETR + Mask2Former from scratch</a:t>
            </a:r>
          </a:p>
        </p:txBody>
      </p:sp>
      <p:sp>
        <p:nvSpPr>
          <p:cNvPr id="23" name="Oval 22"/>
          <p:cNvSpPr/>
          <p:nvPr/>
        </p:nvSpPr>
        <p:spPr>
          <a:xfrm>
            <a:off x="4983480" y="2450592"/>
            <a:ext cx="137160" cy="137160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12080" y="23774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E2761"/>
                </a:solidFill>
                <a:latin typeface="Calibri"/>
              </a:rPr>
              <a:t>BIM / CAD data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2377440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2C3E50"/>
                </a:solidFill>
                <a:latin typeface="Calibri"/>
              </a:rPr>
              <a:t>Synthetic CAD generator + IFC-ready schema</a:t>
            </a:r>
          </a:p>
        </p:txBody>
      </p:sp>
      <p:sp>
        <p:nvSpPr>
          <p:cNvPr id="26" name="Oval 25"/>
          <p:cNvSpPr/>
          <p:nvPr/>
        </p:nvSpPr>
        <p:spPr>
          <a:xfrm>
            <a:off x="4983480" y="2907792"/>
            <a:ext cx="137160" cy="137160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12080" y="28346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E2761"/>
                </a:solidFill>
                <a:latin typeface="Calibri"/>
              </a:rPr>
              <a:t>Object detection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2834640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2C3E50"/>
                </a:solidFill>
                <a:latin typeface="Calibri"/>
              </a:rPr>
              <a:t>DETR-lite finds doors, windows, stairs</a:t>
            </a:r>
          </a:p>
        </p:txBody>
      </p:sp>
      <p:sp>
        <p:nvSpPr>
          <p:cNvPr id="29" name="Oval 28"/>
          <p:cNvSpPr/>
          <p:nvPr/>
        </p:nvSpPr>
        <p:spPr>
          <a:xfrm>
            <a:off x="4983480" y="3364991"/>
            <a:ext cx="137160" cy="137160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12080" y="3291839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E2761"/>
                </a:solidFill>
                <a:latin typeface="Calibri"/>
              </a:rPr>
              <a:t>Structural understanding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7960" y="3291839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2C3E50"/>
                </a:solidFill>
                <a:latin typeface="Calibri"/>
              </a:rPr>
              <a:t>Mask2Former walls / floors for navmesh</a:t>
            </a:r>
          </a:p>
        </p:txBody>
      </p:sp>
      <p:sp>
        <p:nvSpPr>
          <p:cNvPr id="32" name="Oval 31"/>
          <p:cNvSpPr/>
          <p:nvPr/>
        </p:nvSpPr>
        <p:spPr>
          <a:xfrm>
            <a:off x="4983480" y="3822192"/>
            <a:ext cx="137160" cy="137160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12080" y="37490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E2761"/>
                </a:solidFill>
                <a:latin typeface="Calibri"/>
              </a:rPr>
              <a:t>End-to-end delivery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37960" y="3749040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2C3E50"/>
                </a:solidFill>
                <a:latin typeface="Calibri"/>
              </a:rPr>
              <a:t>Full repo + notebook + docs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48006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A8AA3"/>
                </a:solidFill>
                <a:latin typeface="Calibri"/>
              </a:rPr>
              <a:t>Sara Samanis  ·  BIM/CAD Transformer Pipeline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A8AA3"/>
                </a:solidFill>
                <a:latin typeface="Calibri"/>
              </a:rP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858000" y="-914400"/>
            <a:ext cx="4572000" cy="4572000"/>
          </a:xfrm>
          <a:prstGeom prst="ellipse">
            <a:avLst/>
          </a:prstGeom>
          <a:solidFill>
            <a:srgbClr val="2630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2630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645920"/>
            <a:ext cx="457200" cy="73152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83080"/>
            <a:ext cx="8229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0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65176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CADCFC"/>
                </a:solidFill>
                <a:latin typeface="Calibri"/>
              </a:rPr>
              <a:t>Happy to dive deeper into any slide — or any model.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65760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Sara Samanis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02336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CADCFC"/>
                </a:solidFill>
                <a:latin typeface="Calibri"/>
              </a:rPr>
              <a:t>ML / CV Engineer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3434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7A8AA3"/>
                </a:solidFill>
                <a:latin typeface="Calibri"/>
              </a:rPr>
              <a:t>msamanis@gmail.com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